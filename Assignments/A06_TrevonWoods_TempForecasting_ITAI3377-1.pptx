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IBM Plex Sans"/>
      <p:regular r:id="rId18"/>
      <p:bold r:id="rId19"/>
      <p:italic r:id="rId20"/>
      <p:boldItalic r:id="rId21"/>
    </p:embeddedFont>
    <p:embeddedFont>
      <p:font typeface="Sora SemiBold"/>
      <p:regular r:id="rId22"/>
      <p:bold r:id="rId23"/>
    </p:embeddedFont>
    <p:embeddedFont>
      <p:font typeface="IBM Plex Sans Medium"/>
      <p:regular r:id="rId24"/>
      <p:bold r:id="rId25"/>
      <p:italic r:id="rId26"/>
      <p:boldItalic r:id="rId27"/>
    </p:embeddedFont>
    <p:embeddedFont>
      <p:font typeface="Sora Light"/>
      <p:regular r:id="rId28"/>
      <p:bold r:id="rId29"/>
    </p:embeddedFont>
    <p:embeddedFont>
      <p:font typeface="Sora ExtraLight"/>
      <p:regular r:id="rId30"/>
      <p:bold r:id="rId31"/>
    </p:embeddedFont>
    <p:embeddedFont>
      <p:font typeface="Sora"/>
      <p:regular r:id="rId32"/>
      <p:bold r:id="rId33"/>
    </p:embeddedFont>
    <p:embeddedFont>
      <p:font typeface="Sora Medium"/>
      <p:regular r:id="rId34"/>
      <p:bold r:id="rId35"/>
    </p:embeddedFont>
    <p:embeddedFont>
      <p:font typeface="IBM Plex Sans SemiBold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oraExtraLight-bold.fntdata"/><Relationship Id="rId30" Type="http://schemas.openxmlformats.org/officeDocument/2006/relationships/font" Target="fonts/SoraExtraLight-regular.fntdata"/><Relationship Id="rId33" Type="http://schemas.openxmlformats.org/officeDocument/2006/relationships/font" Target="fonts/Sora-bold.fntdata"/><Relationship Id="rId32" Type="http://schemas.openxmlformats.org/officeDocument/2006/relationships/font" Target="fonts/Sora-regular.fntdata"/><Relationship Id="rId35" Type="http://schemas.openxmlformats.org/officeDocument/2006/relationships/font" Target="fonts/SoraMedium-bold.fntdata"/><Relationship Id="rId34" Type="http://schemas.openxmlformats.org/officeDocument/2006/relationships/font" Target="fonts/SoraMedium-regular.fntdata"/><Relationship Id="rId37" Type="http://schemas.openxmlformats.org/officeDocument/2006/relationships/font" Target="fonts/IBMPlexSansSemiBold-bold.fntdata"/><Relationship Id="rId36" Type="http://schemas.openxmlformats.org/officeDocument/2006/relationships/font" Target="fonts/IBMPlexSansSemiBold-regular.fntdata"/><Relationship Id="rId39" Type="http://schemas.openxmlformats.org/officeDocument/2006/relationships/font" Target="fonts/IBMPlexSansSemiBold-boldItalic.fntdata"/><Relationship Id="rId38" Type="http://schemas.openxmlformats.org/officeDocument/2006/relationships/font" Target="fonts/IBMPlexSansSemiBold-italic.fntdata"/><Relationship Id="rId20" Type="http://schemas.openxmlformats.org/officeDocument/2006/relationships/font" Target="fonts/IBMPlexSans-italic.fntdata"/><Relationship Id="rId22" Type="http://schemas.openxmlformats.org/officeDocument/2006/relationships/font" Target="fonts/SoraSemiBold-regular.fntdata"/><Relationship Id="rId21" Type="http://schemas.openxmlformats.org/officeDocument/2006/relationships/font" Target="fonts/IBMPlexSans-boldItalic.fntdata"/><Relationship Id="rId24" Type="http://schemas.openxmlformats.org/officeDocument/2006/relationships/font" Target="fonts/IBMPlexSansMedium-regular.fntdata"/><Relationship Id="rId23" Type="http://schemas.openxmlformats.org/officeDocument/2006/relationships/font" Target="fonts/SoraSemiBold-bold.fntdata"/><Relationship Id="rId26" Type="http://schemas.openxmlformats.org/officeDocument/2006/relationships/font" Target="fonts/IBMPlexSansMedium-italic.fntdata"/><Relationship Id="rId25" Type="http://schemas.openxmlformats.org/officeDocument/2006/relationships/font" Target="fonts/IBMPlexSansMedium-bold.fntdata"/><Relationship Id="rId28" Type="http://schemas.openxmlformats.org/officeDocument/2006/relationships/font" Target="fonts/SoraLight-regular.fntdata"/><Relationship Id="rId27" Type="http://schemas.openxmlformats.org/officeDocument/2006/relationships/font" Target="fonts/IBMPlexSansMedium-boldItalic.fntdata"/><Relationship Id="rId29" Type="http://schemas.openxmlformats.org/officeDocument/2006/relationships/font" Target="fonts/SoraLight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IBMPlexSans-bold.fntdata"/><Relationship Id="rId18" Type="http://schemas.openxmlformats.org/officeDocument/2006/relationships/font" Target="fonts/IBMPlex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dc949a8d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dc949a8d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dc949a8d5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3dc949a8d5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3dc949a8d5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3dc949a8d5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3dc949a8d5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3dc949a8d5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3dc949a8d54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3dc949a8d5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3dc949a8d54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3dc949a8d5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3dc949a8d54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3dc949a8d54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3dc949a8d54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3dc949a8d54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3dc949a8d54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3dc949a8d54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3dc949a8d54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3dc949a8d54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3dc949a8d54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8" name="Google Shape;978;g3dc949a8d54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3dc949a8d54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3dc949a8d54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1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Trevon Woods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ITAI-3377-IoT at the Edge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Sitaram Ayyagari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03/25/202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89" name="Google Shape;889;p51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Temperature Forecasting with Nixtla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2"/>
          <p:cNvSpPr txBox="1"/>
          <p:nvPr>
            <p:ph idx="3" type="title"/>
          </p:nvPr>
        </p:nvSpPr>
        <p:spPr>
          <a:xfrm>
            <a:off x="115025" y="471075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895" name="Google Shape;895;p52"/>
          <p:cNvSpPr txBox="1"/>
          <p:nvPr>
            <p:ph idx="5" type="subTitle"/>
          </p:nvPr>
        </p:nvSpPr>
        <p:spPr>
          <a:xfrm>
            <a:off x="1655975" y="3416012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5 &amp; 6.</a:t>
            </a:r>
            <a:endParaRPr b="0"/>
          </a:p>
        </p:txBody>
      </p:sp>
      <p:sp>
        <p:nvSpPr>
          <p:cNvPr id="896" name="Google Shape;896;p52"/>
          <p:cNvSpPr txBox="1"/>
          <p:nvPr>
            <p:ph idx="6" type="subTitle"/>
          </p:nvPr>
        </p:nvSpPr>
        <p:spPr>
          <a:xfrm>
            <a:off x="1655975" y="311508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Engineering</a:t>
            </a:r>
            <a:endParaRPr/>
          </a:p>
        </p:txBody>
      </p:sp>
      <p:sp>
        <p:nvSpPr>
          <p:cNvPr id="897" name="Google Shape;897;p52"/>
          <p:cNvSpPr txBox="1"/>
          <p:nvPr>
            <p:ph idx="7" type="subTitle"/>
          </p:nvPr>
        </p:nvSpPr>
        <p:spPr>
          <a:xfrm>
            <a:off x="1655975" y="2882225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4</a:t>
            </a:r>
            <a:r>
              <a:rPr b="0" lang="en"/>
              <a:t>.</a:t>
            </a:r>
            <a:endParaRPr b="0"/>
          </a:p>
        </p:txBody>
      </p:sp>
      <p:sp>
        <p:nvSpPr>
          <p:cNvPr id="898" name="Google Shape;898;p52"/>
          <p:cNvSpPr txBox="1"/>
          <p:nvPr>
            <p:ph idx="8" type="subTitle"/>
          </p:nvPr>
        </p:nvSpPr>
        <p:spPr>
          <a:xfrm>
            <a:off x="1655975" y="258208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Selection &amp; Training</a:t>
            </a:r>
            <a:endParaRPr/>
          </a:p>
        </p:txBody>
      </p:sp>
      <p:sp>
        <p:nvSpPr>
          <p:cNvPr id="899" name="Google Shape;899;p52"/>
          <p:cNvSpPr txBox="1"/>
          <p:nvPr>
            <p:ph idx="9" type="subTitle"/>
          </p:nvPr>
        </p:nvSpPr>
        <p:spPr>
          <a:xfrm>
            <a:off x="1655975" y="2349225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3.</a:t>
            </a:r>
            <a:endParaRPr b="0"/>
          </a:p>
        </p:txBody>
      </p:sp>
      <p:sp>
        <p:nvSpPr>
          <p:cNvPr id="900" name="Google Shape;900;p52"/>
          <p:cNvSpPr txBox="1"/>
          <p:nvPr>
            <p:ph idx="13" type="subTitle"/>
          </p:nvPr>
        </p:nvSpPr>
        <p:spPr>
          <a:xfrm>
            <a:off x="1655975" y="20494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</a:t>
            </a:r>
            <a:endParaRPr/>
          </a:p>
        </p:txBody>
      </p:sp>
      <p:sp>
        <p:nvSpPr>
          <p:cNvPr id="901" name="Google Shape;901;p52"/>
          <p:cNvSpPr txBox="1"/>
          <p:nvPr>
            <p:ph idx="14" type="subTitle"/>
          </p:nvPr>
        </p:nvSpPr>
        <p:spPr>
          <a:xfrm>
            <a:off x="1655975" y="181660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2</a:t>
            </a:r>
            <a:r>
              <a:rPr b="0" lang="en"/>
              <a:t>.</a:t>
            </a:r>
            <a:endParaRPr b="0"/>
          </a:p>
        </p:txBody>
      </p:sp>
      <p:sp>
        <p:nvSpPr>
          <p:cNvPr id="902" name="Google Shape;902;p52"/>
          <p:cNvSpPr txBox="1"/>
          <p:nvPr>
            <p:ph idx="15" type="subTitle"/>
          </p:nvPr>
        </p:nvSpPr>
        <p:spPr>
          <a:xfrm>
            <a:off x="1655975" y="15168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903" name="Google Shape;903;p52"/>
          <p:cNvSpPr txBox="1"/>
          <p:nvPr>
            <p:ph idx="16" type="subTitle"/>
          </p:nvPr>
        </p:nvSpPr>
        <p:spPr>
          <a:xfrm>
            <a:off x="1655975" y="1283975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1</a:t>
            </a:r>
            <a:r>
              <a:rPr b="0" lang="en"/>
              <a:t>.</a:t>
            </a:r>
            <a:endParaRPr b="0"/>
          </a:p>
        </p:txBody>
      </p:sp>
      <p:sp>
        <p:nvSpPr>
          <p:cNvPr id="904" name="Google Shape;904;p52"/>
          <p:cNvSpPr txBox="1"/>
          <p:nvPr>
            <p:ph idx="1" type="subTitle"/>
          </p:nvPr>
        </p:nvSpPr>
        <p:spPr>
          <a:xfrm>
            <a:off x="1655975" y="418420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Generative Modeling</a:t>
            </a:r>
            <a:endParaRPr/>
          </a:p>
        </p:txBody>
      </p:sp>
      <p:sp>
        <p:nvSpPr>
          <p:cNvPr id="905" name="Google Shape;905;p52"/>
          <p:cNvSpPr txBox="1"/>
          <p:nvPr>
            <p:ph idx="2" type="subTitle"/>
          </p:nvPr>
        </p:nvSpPr>
        <p:spPr>
          <a:xfrm>
            <a:off x="1655975" y="3951337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7</a:t>
            </a:r>
            <a:r>
              <a:rPr b="0" lang="en"/>
              <a:t>.</a:t>
            </a:r>
            <a:endParaRPr b="0"/>
          </a:p>
        </p:txBody>
      </p:sp>
      <p:sp>
        <p:nvSpPr>
          <p:cNvPr id="906" name="Google Shape;906;p52"/>
          <p:cNvSpPr txBox="1"/>
          <p:nvPr>
            <p:ph idx="4" type="subTitle"/>
          </p:nvPr>
        </p:nvSpPr>
        <p:spPr>
          <a:xfrm>
            <a:off x="1655975" y="36488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Evaluation and Validation</a:t>
            </a:r>
            <a:endParaRPr/>
          </a:p>
        </p:txBody>
      </p:sp>
      <p:sp>
        <p:nvSpPr>
          <p:cNvPr id="907" name="Google Shape;907;p52"/>
          <p:cNvSpPr txBox="1"/>
          <p:nvPr>
            <p:ph idx="13" type="subTitle"/>
          </p:nvPr>
        </p:nvSpPr>
        <p:spPr>
          <a:xfrm>
            <a:off x="4490675" y="20494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Challenges, Insights, </a:t>
            </a:r>
            <a:r>
              <a:rPr lang="en"/>
              <a:t>Takeaways</a:t>
            </a:r>
            <a:endParaRPr/>
          </a:p>
        </p:txBody>
      </p:sp>
      <p:sp>
        <p:nvSpPr>
          <p:cNvPr id="908" name="Google Shape;908;p52"/>
          <p:cNvSpPr txBox="1"/>
          <p:nvPr>
            <p:ph idx="14" type="subTitle"/>
          </p:nvPr>
        </p:nvSpPr>
        <p:spPr>
          <a:xfrm>
            <a:off x="4490675" y="1816612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9</a:t>
            </a:r>
            <a:r>
              <a:rPr b="0" lang="en"/>
              <a:t>.</a:t>
            </a:r>
            <a:endParaRPr b="0"/>
          </a:p>
        </p:txBody>
      </p:sp>
      <p:sp>
        <p:nvSpPr>
          <p:cNvPr id="909" name="Google Shape;909;p52"/>
          <p:cNvSpPr txBox="1"/>
          <p:nvPr>
            <p:ph idx="15" type="subTitle"/>
          </p:nvPr>
        </p:nvSpPr>
        <p:spPr>
          <a:xfrm>
            <a:off x="4490675" y="15168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 of Generative Models</a:t>
            </a:r>
            <a:endParaRPr/>
          </a:p>
        </p:txBody>
      </p:sp>
      <p:sp>
        <p:nvSpPr>
          <p:cNvPr id="910" name="Google Shape;910;p52"/>
          <p:cNvSpPr txBox="1"/>
          <p:nvPr>
            <p:ph idx="16" type="subTitle"/>
          </p:nvPr>
        </p:nvSpPr>
        <p:spPr>
          <a:xfrm>
            <a:off x="4490675" y="1283987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8</a:t>
            </a:r>
            <a:r>
              <a:rPr b="0" lang="en"/>
              <a:t>.</a:t>
            </a:r>
            <a:endParaRPr b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53"/>
          <p:cNvSpPr txBox="1"/>
          <p:nvPr>
            <p:ph type="title"/>
          </p:nvPr>
        </p:nvSpPr>
        <p:spPr>
          <a:xfrm>
            <a:off x="68350" y="150475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Overview</a:t>
            </a:r>
            <a:endParaRPr sz="4800"/>
          </a:p>
        </p:txBody>
      </p:sp>
      <p:sp>
        <p:nvSpPr>
          <p:cNvPr id="916" name="Google Shape;916;p53"/>
          <p:cNvSpPr txBox="1"/>
          <p:nvPr/>
        </p:nvSpPr>
        <p:spPr>
          <a:xfrm>
            <a:off x="148350" y="1085475"/>
            <a:ext cx="4550700" cy="3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IBM Plex Sans"/>
              <a:buChar char="•"/>
            </a:pPr>
            <a:r>
              <a:rPr lang="en" sz="24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Temperature forecasting using Nixtla TimeGPT</a:t>
            </a:r>
            <a:endParaRPr sz="24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IBM Plex Sans"/>
              <a:buChar char="•"/>
            </a:pPr>
            <a:r>
              <a:rPr lang="en" sz="24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Goal: Predict IoT sensor temperatures</a:t>
            </a:r>
            <a:endParaRPr sz="24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IBM Plex Sans"/>
              <a:buChar char="•"/>
            </a:pPr>
            <a:r>
              <a:rPr lang="en" sz="24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Dataset: Kaggle IoT temperature readings</a:t>
            </a:r>
            <a:endParaRPr sz="24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917" name="Google Shape;917;p53" title="Image 27-03-2026 at 11.5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5178" y="2370774"/>
            <a:ext cx="4793725" cy="174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54"/>
          <p:cNvSpPr/>
          <p:nvPr/>
        </p:nvSpPr>
        <p:spPr>
          <a:xfrm rot="9649294">
            <a:off x="-1341325" y="856718"/>
            <a:ext cx="4949603" cy="1779974"/>
          </a:xfrm>
          <a:prstGeom prst="chord">
            <a:avLst>
              <a:gd fmla="val 2548532" name="adj1"/>
              <a:gd fmla="val 19993265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23" name="Google Shape;923;p54"/>
          <p:cNvSpPr/>
          <p:nvPr/>
        </p:nvSpPr>
        <p:spPr>
          <a:xfrm rot="748054">
            <a:off x="393745" y="1246154"/>
            <a:ext cx="3226691" cy="1216883"/>
          </a:xfrm>
          <a:prstGeom prst="flowChartConnector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24" name="Google Shape;924;p54"/>
          <p:cNvSpPr/>
          <p:nvPr/>
        </p:nvSpPr>
        <p:spPr>
          <a:xfrm flipH="1" rot="10800000">
            <a:off x="6153225" y="2339050"/>
            <a:ext cx="713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25" name="Google Shape;925;p54"/>
          <p:cNvSpPr txBox="1"/>
          <p:nvPr>
            <p:ph type="title"/>
          </p:nvPr>
        </p:nvSpPr>
        <p:spPr>
          <a:xfrm>
            <a:off x="68350" y="150475"/>
            <a:ext cx="4390500" cy="10686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Data Prep</a:t>
            </a:r>
            <a:endParaRPr sz="4800"/>
          </a:p>
        </p:txBody>
      </p:sp>
      <p:sp>
        <p:nvSpPr>
          <p:cNvPr id="926" name="Google Shape;926;p54"/>
          <p:cNvSpPr txBox="1"/>
          <p:nvPr/>
        </p:nvSpPr>
        <p:spPr>
          <a:xfrm>
            <a:off x="305850" y="898350"/>
            <a:ext cx="5009700" cy="3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IBM Plex Sans"/>
              <a:buChar char="•"/>
            </a:pPr>
            <a:r>
              <a:rPr lang="en" sz="24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Loaded &amp; explored dataset</a:t>
            </a:r>
            <a:endParaRPr sz="24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IBM Plex Sans"/>
              <a:buChar char="•"/>
            </a:pPr>
            <a:r>
              <a:rPr lang="en" sz="24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Converted datetime, indexed, sorted</a:t>
            </a:r>
            <a:endParaRPr sz="24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IBM Plex Sans"/>
              <a:buChar char="•"/>
            </a:pPr>
            <a:r>
              <a:rPr lang="en" sz="24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Resampled to hourly frequency</a:t>
            </a:r>
            <a:endParaRPr sz="24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IBM Plex Sans"/>
              <a:buChar char="•"/>
            </a:pPr>
            <a:r>
              <a:rPr lang="en" sz="24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missing values</a:t>
            </a:r>
            <a:endParaRPr sz="24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927" name="Google Shape;927;p54" title="Image 27-03-2026 at 11.5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7075" y="548224"/>
            <a:ext cx="3666425" cy="111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54" title="Image 27-03-2026 at 11.57 AM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7725" y="2502350"/>
            <a:ext cx="1483245" cy="248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54" title="Image 27-03-2026 at 11.57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34725" y="2007449"/>
            <a:ext cx="1628775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55"/>
          <p:cNvSpPr txBox="1"/>
          <p:nvPr>
            <p:ph type="title"/>
          </p:nvPr>
        </p:nvSpPr>
        <p:spPr>
          <a:xfrm>
            <a:off x="118500" y="32500"/>
            <a:ext cx="5693400" cy="10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Model Selection and Training</a:t>
            </a:r>
            <a:endParaRPr sz="4800"/>
          </a:p>
        </p:txBody>
      </p:sp>
      <p:sp>
        <p:nvSpPr>
          <p:cNvPr id="935" name="Google Shape;935;p55"/>
          <p:cNvSpPr txBox="1"/>
          <p:nvPr/>
        </p:nvSpPr>
        <p:spPr>
          <a:xfrm>
            <a:off x="511725" y="1801500"/>
            <a:ext cx="6642000" cy="27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Used TimeGPT (Nixtla)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Forecast horizon: 639 hours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Confidence intervals: 80%, 90%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Baseline model without engineered features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56"/>
          <p:cNvSpPr txBox="1"/>
          <p:nvPr>
            <p:ph idx="4294967295" type="title"/>
          </p:nvPr>
        </p:nvSpPr>
        <p:spPr>
          <a:xfrm>
            <a:off x="118500" y="32500"/>
            <a:ext cx="5693400" cy="10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Feature Engineering</a:t>
            </a:r>
            <a:endParaRPr sz="4800"/>
          </a:p>
        </p:txBody>
      </p:sp>
      <p:sp>
        <p:nvSpPr>
          <p:cNvPr id="941" name="Google Shape;941;p56"/>
          <p:cNvSpPr txBox="1"/>
          <p:nvPr/>
        </p:nvSpPr>
        <p:spPr>
          <a:xfrm>
            <a:off x="440700" y="1250450"/>
            <a:ext cx="6268200" cy="25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Added features: Hour, Lag temp, Year, Month, Day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Captured seasonality &amp; trends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Improved model performance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2" name="Google Shape;942;p56" title="Image 27-03-2026 at 11.5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6060" y="3056847"/>
            <a:ext cx="4235425" cy="197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57"/>
          <p:cNvSpPr txBox="1"/>
          <p:nvPr>
            <p:ph idx="4294967295" type="title"/>
          </p:nvPr>
        </p:nvSpPr>
        <p:spPr>
          <a:xfrm>
            <a:off x="118500" y="32500"/>
            <a:ext cx="5693400" cy="10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Model Evaluation</a:t>
            </a:r>
            <a:endParaRPr sz="4800"/>
          </a:p>
        </p:txBody>
      </p:sp>
      <p:sp>
        <p:nvSpPr>
          <p:cNvPr id="948" name="Google Shape;948;p57"/>
          <p:cNvSpPr txBox="1"/>
          <p:nvPr/>
        </p:nvSpPr>
        <p:spPr>
          <a:xfrm>
            <a:off x="4982550" y="967350"/>
            <a:ext cx="3452700" cy="3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Calibri"/>
                <a:ea typeface="Calibri"/>
                <a:cs typeface="Calibri"/>
                <a:sym typeface="Calibri"/>
              </a:rPr>
              <a:t>With Features: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MAE: 1.75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RMSE: 2.52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Predictions closely followed actual trends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Acceptable for IoT use cases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57"/>
          <p:cNvSpPr txBox="1"/>
          <p:nvPr/>
        </p:nvSpPr>
        <p:spPr>
          <a:xfrm>
            <a:off x="603450" y="1017750"/>
            <a:ext cx="3452700" cy="3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Calibri"/>
                <a:ea typeface="Calibri"/>
                <a:cs typeface="Calibri"/>
                <a:sym typeface="Calibri"/>
              </a:rPr>
              <a:t>Without Features: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MAE: 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3.2330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RMSE: 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4.2958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Predictions 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were not great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Needed more robust features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0" name="Google Shape;950;p57" title="Image 27-03-2026 at 12.0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975" y="3337800"/>
            <a:ext cx="4089098" cy="145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p57" title="Image 26-03-2026 at 12.4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8249" y="3360784"/>
            <a:ext cx="4089101" cy="1412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58"/>
          <p:cNvSpPr txBox="1"/>
          <p:nvPr>
            <p:ph idx="4294967295" type="title"/>
          </p:nvPr>
        </p:nvSpPr>
        <p:spPr>
          <a:xfrm>
            <a:off x="118500" y="32500"/>
            <a:ext cx="5693400" cy="10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Validation Strategy</a:t>
            </a:r>
            <a:endParaRPr sz="4800"/>
          </a:p>
        </p:txBody>
      </p:sp>
      <p:sp>
        <p:nvSpPr>
          <p:cNvPr id="957" name="Google Shape;957;p58"/>
          <p:cNvSpPr txBox="1"/>
          <p:nvPr/>
        </p:nvSpPr>
        <p:spPr>
          <a:xfrm>
            <a:off x="524550" y="1164000"/>
            <a:ext cx="5464800" cy="3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Rolling-Origin Cross Validation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 splits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Performance improved with more data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Simulates real-world deployment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8" name="Google Shape;958;p58" title="Image 26-03-2026 at 1.1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4625" y="935944"/>
            <a:ext cx="3734976" cy="1298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9" name="Google Shape;959;p58" title="Image 26-03-2026 at 1.1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4625" y="2352350"/>
            <a:ext cx="3734973" cy="1325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0" name="Google Shape;960;p58" title="Image 26-03-2026 at 1.19 PM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4625" y="3762000"/>
            <a:ext cx="3734974" cy="13156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59"/>
          <p:cNvSpPr txBox="1"/>
          <p:nvPr>
            <p:ph idx="4294967295" type="title"/>
          </p:nvPr>
        </p:nvSpPr>
        <p:spPr>
          <a:xfrm>
            <a:off x="118500" y="32500"/>
            <a:ext cx="6141900" cy="10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Generative Modeling</a:t>
            </a:r>
            <a:endParaRPr sz="4800"/>
          </a:p>
        </p:txBody>
      </p:sp>
      <p:sp>
        <p:nvSpPr>
          <p:cNvPr id="966" name="Google Shape;966;p59"/>
          <p:cNvSpPr txBox="1"/>
          <p:nvPr/>
        </p:nvSpPr>
        <p:spPr>
          <a:xfrm>
            <a:off x="4703075" y="1171825"/>
            <a:ext cx="4357200" cy="3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Used VAE to generate synthetic data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LSTM-based encoder/decoder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Generated ~60k data points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Goal: augment training data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7" name="Google Shape;967;p59" title="Image 27-03-2026 at 12.0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375" y="1084275"/>
            <a:ext cx="3461919" cy="373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60"/>
          <p:cNvSpPr txBox="1"/>
          <p:nvPr>
            <p:ph idx="14" type="title"/>
          </p:nvPr>
        </p:nvSpPr>
        <p:spPr>
          <a:xfrm>
            <a:off x="118500" y="32500"/>
            <a:ext cx="8925900" cy="10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Impact of Generative Models</a:t>
            </a:r>
            <a:endParaRPr sz="4800"/>
          </a:p>
        </p:txBody>
      </p:sp>
      <p:sp>
        <p:nvSpPr>
          <p:cNvPr id="973" name="Google Shape;973;p60"/>
          <p:cNvSpPr txBox="1"/>
          <p:nvPr/>
        </p:nvSpPr>
        <p:spPr>
          <a:xfrm>
            <a:off x="314600" y="1735800"/>
            <a:ext cx="4660800" cy="32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Augmentation worsened performance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MAE increased to 6.46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Likely due to missing engineered features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Synthetic data quality matters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4" name="Google Shape;974;p60" title="Image 27-03-2026 at 12.0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7125" y="3280900"/>
            <a:ext cx="6544875" cy="15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60" title="Image 27-03-2026 at 12.0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5400" y="1735800"/>
            <a:ext cx="3863800" cy="127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61"/>
          <p:cNvSpPr txBox="1"/>
          <p:nvPr/>
        </p:nvSpPr>
        <p:spPr>
          <a:xfrm>
            <a:off x="516500" y="1290300"/>
            <a:ext cx="4668900" cy="23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Debugging TimeGPT input issues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Handling frequency &amp; feature mismatches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Learned VAE for time series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Future: better features, tuning, GANs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61"/>
          <p:cNvSpPr txBox="1"/>
          <p:nvPr>
            <p:ph idx="5" type="title"/>
          </p:nvPr>
        </p:nvSpPr>
        <p:spPr>
          <a:xfrm>
            <a:off x="199500" y="103275"/>
            <a:ext cx="8745000" cy="1068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Challenges, Insights, &amp; Takeaways</a:t>
            </a:r>
            <a:endParaRPr sz="4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62"/>
          <p:cNvSpPr txBox="1"/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