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70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04027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chose the conceptual path. Our topic is industrial smart factory maintenance, not healthcare. This presentation explains our design idea.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natural: the problem is not complicated. We want to catch machine problems before they turn into bigger failures.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explains the basic idea: collect data, process it locally, find warning signs, then recommend a response.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flow from left to right. This slide is the easiest way to explain the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keeps the generative AI part grounded. It helps explain and support decisions; it is not magically controlling everything.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where you explain autonomy in a realistic way. It is not uncontrolled AI; it is risk-based recommendations with safeguards.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covers the security, ethics, and testing parts of the assignment. Keep it practical and quick.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saying this is a conceptual design for an industrial predictive maintenance system. It covers architecture, AI approach, security, and testing.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just shows the source links for the references. We do not need to present every citation out loud unless asked.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03920" y="502920"/>
            <a:ext cx="2651760" cy="2651760"/>
          </a:xfrm>
          <a:prstGeom prst="ellipse">
            <a:avLst/>
          </a:prstGeom>
          <a:solidFill>
            <a:srgbClr val="F8FAFC">
              <a:alpha val="0"/>
            </a:srgbClr>
          </a:solidFill>
          <a:ln w="38100">
            <a:solidFill>
              <a:srgbClr val="20A39E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281160" y="1097280"/>
            <a:ext cx="1600200" cy="1600200"/>
          </a:xfrm>
          <a:prstGeom prst="ellipse">
            <a:avLst/>
          </a:prstGeom>
          <a:solidFill>
            <a:srgbClr val="F8FAFC">
              <a:alpha val="0"/>
            </a:srgbClr>
          </a:solidFill>
          <a:ln w="25400">
            <a:solidFill>
              <a:srgbClr val="F2994A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621792"/>
            <a:ext cx="1508760" cy="329184"/>
          </a:xfrm>
          <a:prstGeom prst="roundRect">
            <a:avLst>
              <a:gd name="adj" fmla="val 22222"/>
            </a:avLst>
          </a:prstGeom>
          <a:solidFill>
            <a:srgbClr val="20A39E"/>
          </a:solidFill>
          <a:ln w="12700">
            <a:solidFill>
              <a:srgbClr val="20A39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704088"/>
            <a:ext cx="1362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FFFFFF"/>
                </a:solidFill>
              </a:rPr>
              <a:t>Conceptual Path</a:t>
            </a:r>
            <a:endParaRPr lang="en-US" sz="960" dirty="0"/>
          </a:p>
        </p:txBody>
      </p:sp>
      <p:sp>
        <p:nvSpPr>
          <p:cNvPr id="7" name="Text 5"/>
          <p:cNvSpPr/>
          <p:nvPr/>
        </p:nvSpPr>
        <p:spPr>
          <a:xfrm>
            <a:off x="685800" y="1417320"/>
            <a:ext cx="8321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102A43"/>
                </a:solidFill>
              </a:rPr>
              <a:t>Autonomous Maintenance Agent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102A43"/>
                </a:solidFill>
              </a:rPr>
              <a:t>for Smart Factory Using Generative AI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102A43"/>
                </a:solidFill>
              </a:rPr>
              <a:t>and Edge IIoT Systems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13232" y="31546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0A39E"/>
                </a:solidFill>
              </a:rPr>
              <a:t>ITAI 3377 Capstone | Group 9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13232" y="3611880"/>
            <a:ext cx="4663440" cy="0"/>
          </a:xfrm>
          <a:prstGeom prst="line">
            <a:avLst/>
          </a:prstGeom>
          <a:noFill/>
          <a:ln w="25400">
            <a:solidFill>
              <a:srgbClr val="20A39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384048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B5563"/>
                </a:solidFill>
              </a:rPr>
              <a:t>Elizabeth Carrillo • Luisleonardo Ortiz-Vazquez • Oscar Cortez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B5563"/>
                </a:solidFill>
              </a:rPr>
              <a:t>Trevon Woods • Williane Yarro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13232" y="4617720"/>
            <a:ext cx="6492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</a:rPr>
              <a:t>Conceptual design for an industrial smart factory maintenance agent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1750040" y="6446520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0A39E"/>
          </a:solidFill>
          <a:ln w="12700">
            <a:solidFill>
              <a:srgbClr val="20A39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5720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problem are we solving?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914400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4B5563"/>
                </a:solidFill>
              </a:rPr>
              <a:t>Factories lose time and money when machines fail without warning.</a:t>
            </a:r>
            <a:endParaRPr lang="en-US" sz="1220" dirty="0"/>
          </a:p>
        </p:txBody>
      </p:sp>
      <p:sp>
        <p:nvSpPr>
          <p:cNvPr id="5" name="Text 3"/>
          <p:cNvSpPr/>
          <p:nvPr/>
        </p:nvSpPr>
        <p:spPr>
          <a:xfrm>
            <a:off x="9829800" y="6446520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ITAI 3377 | Group 9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1520" y="141732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02A43"/>
                </a:solidFill>
              </a:rPr>
              <a:t>In a smart factory, one machine problem can slow down the whole line.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777240" y="2423160"/>
            <a:ext cx="32461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423160"/>
            <a:ext cx="73152" cy="1234440"/>
          </a:xfrm>
          <a:prstGeom prst="rect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8408" y="2569464"/>
            <a:ext cx="29352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A43"/>
                </a:solidFill>
              </a:rPr>
              <a:t>What happens now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78408" y="2898648"/>
            <a:ext cx="293522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4B5563"/>
                </a:solidFill>
              </a:rPr>
              <a:t>A lot of maintenance is still reactive: fix the machine after it breaks.</a:t>
            </a:r>
            <a:endParaRPr lang="en-US" sz="1160" dirty="0"/>
          </a:p>
        </p:txBody>
      </p:sp>
      <p:sp>
        <p:nvSpPr>
          <p:cNvPr id="11" name="Shape 9"/>
          <p:cNvSpPr/>
          <p:nvPr/>
        </p:nvSpPr>
        <p:spPr>
          <a:xfrm>
            <a:off x="4434840" y="2423160"/>
            <a:ext cx="32461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34840" y="2423160"/>
            <a:ext cx="73152" cy="123444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36008" y="2569464"/>
            <a:ext cx="29352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A43"/>
                </a:solidFill>
              </a:rPr>
              <a:t>Why that hurts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636008" y="2898648"/>
            <a:ext cx="293522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4B5563"/>
                </a:solidFill>
              </a:rPr>
              <a:t>Breakdowns can cause downtime, repair costs, safety issues, and missed production time.</a:t>
            </a:r>
            <a:endParaRPr lang="en-US" sz="1160" dirty="0"/>
          </a:p>
        </p:txBody>
      </p:sp>
      <p:sp>
        <p:nvSpPr>
          <p:cNvPr id="15" name="Shape 13"/>
          <p:cNvSpPr/>
          <p:nvPr/>
        </p:nvSpPr>
        <p:spPr>
          <a:xfrm>
            <a:off x="8092440" y="2423160"/>
            <a:ext cx="32461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92440" y="2423160"/>
            <a:ext cx="73152" cy="1234440"/>
          </a:xfrm>
          <a:prstGeom prst="rect">
            <a:avLst/>
          </a:prstGeom>
          <a:solidFill>
            <a:srgbClr val="20A39E"/>
          </a:solidFill>
          <a:ln w="12700">
            <a:solidFill>
              <a:srgbClr val="20A39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93608" y="2569464"/>
            <a:ext cx="29352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A43"/>
                </a:solidFill>
              </a:rPr>
              <a:t>Our idea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93608" y="2898648"/>
            <a:ext cx="293522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4B5563"/>
                </a:solidFill>
              </a:rPr>
              <a:t>Spot warning signs earlier and recommend what the maintenance team should do next.</a:t>
            </a:r>
            <a:endParaRPr lang="en-US" sz="1160" dirty="0"/>
          </a:p>
        </p:txBody>
      </p:sp>
      <p:sp>
        <p:nvSpPr>
          <p:cNvPr id="19" name="Text 17"/>
          <p:cNvSpPr/>
          <p:nvPr/>
        </p:nvSpPr>
        <p:spPr>
          <a:xfrm>
            <a:off x="914400" y="480060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02A43"/>
                </a:solidFill>
              </a:rPr>
              <a:t>Our focus stays industrial: motors, pumps, compressors, conveyors, and robotic arms.</a:t>
            </a:r>
            <a:endParaRPr lang="en-US" sz="1900" dirty="0"/>
          </a:p>
        </p:txBody>
      </p:sp>
      <p:sp>
        <p:nvSpPr>
          <p:cNvPr id="21" name="Text 18"/>
          <p:cNvSpPr/>
          <p:nvPr/>
        </p:nvSpPr>
        <p:spPr>
          <a:xfrm>
            <a:off x="11750040" y="6446520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0A39E"/>
          </a:solidFill>
          <a:ln w="12700">
            <a:solidFill>
              <a:srgbClr val="20A39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5720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Our proposed solution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914400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4B5563"/>
                </a:solidFill>
              </a:rPr>
              <a:t>An AI maintenance agent that watches machine data and recommends a response.</a:t>
            </a:r>
            <a:endParaRPr lang="en-US" sz="1220" dirty="0"/>
          </a:p>
        </p:txBody>
      </p:sp>
      <p:sp>
        <p:nvSpPr>
          <p:cNvPr id="5" name="Text 3"/>
          <p:cNvSpPr/>
          <p:nvPr/>
        </p:nvSpPr>
        <p:spPr>
          <a:xfrm>
            <a:off x="9829800" y="6446520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ITAI 3377 | Group 9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777240" y="1463040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463040"/>
            <a:ext cx="73152" cy="1417320"/>
          </a:xfrm>
          <a:prstGeom prst="rect">
            <a:avLst/>
          </a:prstGeom>
          <a:solidFill>
            <a:srgbClr val="20A39E"/>
          </a:solidFill>
          <a:ln w="12700">
            <a:solidFill>
              <a:srgbClr val="20A39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609344"/>
            <a:ext cx="29352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A43"/>
                </a:solidFill>
              </a:rPr>
              <a:t>1. Monitor equipment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78408" y="1938528"/>
            <a:ext cx="293522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4B5563"/>
                </a:solidFill>
              </a:rPr>
              <a:t>IIoT sensors collect vibration, temperature, pressure, sound, and power usage data.</a:t>
            </a:r>
            <a:endParaRPr lang="en-US" sz="1160" dirty="0"/>
          </a:p>
        </p:txBody>
      </p:sp>
      <p:sp>
        <p:nvSpPr>
          <p:cNvPr id="10" name="Shape 8"/>
          <p:cNvSpPr/>
          <p:nvPr/>
        </p:nvSpPr>
        <p:spPr>
          <a:xfrm>
            <a:off x="4434840" y="1463040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1463040"/>
            <a:ext cx="73152" cy="141732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36008" y="1609344"/>
            <a:ext cx="29352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A43"/>
                </a:solidFill>
              </a:rPr>
              <a:t>2. Find unusual patterns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36008" y="1938528"/>
            <a:ext cx="293522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4B5563"/>
                </a:solidFill>
              </a:rPr>
              <a:t>Edge devices run lightweight AI models close to the machines.</a:t>
            </a:r>
            <a:endParaRPr lang="en-US" sz="1160" dirty="0"/>
          </a:p>
        </p:txBody>
      </p:sp>
      <p:sp>
        <p:nvSpPr>
          <p:cNvPr id="14" name="Shape 12"/>
          <p:cNvSpPr/>
          <p:nvPr/>
        </p:nvSpPr>
        <p:spPr>
          <a:xfrm>
            <a:off x="8092440" y="1463040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92440" y="1463040"/>
            <a:ext cx="73152" cy="1417320"/>
          </a:xfrm>
          <a:prstGeom prst="rect">
            <a:avLst/>
          </a:prstGeom>
          <a:solidFill>
            <a:srgbClr val="2F9E44"/>
          </a:solidFill>
          <a:ln w="12700">
            <a:solidFill>
              <a:srgbClr val="2F9E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93608" y="1609344"/>
            <a:ext cx="29352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A43"/>
                </a:solidFill>
              </a:rPr>
              <a:t>3. Recommend action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93608" y="1938528"/>
            <a:ext cx="293522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4B5563"/>
                </a:solidFill>
              </a:rPr>
              <a:t>The agent classifies risk and suggests monitoring, inspection, repair, or shutdown review.</a:t>
            </a:r>
            <a:endParaRPr lang="en-US" sz="1160" dirty="0"/>
          </a:p>
        </p:txBody>
      </p:sp>
      <p:sp>
        <p:nvSpPr>
          <p:cNvPr id="18" name="Text 16"/>
          <p:cNvSpPr/>
          <p:nvPr/>
        </p:nvSpPr>
        <p:spPr>
          <a:xfrm>
            <a:off x="868680" y="3703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2A43"/>
                </a:solidFill>
              </a:rPr>
              <a:t>Example warning signs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868680" y="4343400"/>
            <a:ext cx="1783080" cy="329184"/>
          </a:xfrm>
          <a:prstGeom prst="roundRect">
            <a:avLst>
              <a:gd name="adj" fmla="val 22222"/>
            </a:avLst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41832" y="4425696"/>
            <a:ext cx="1636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FFFFFF"/>
                </a:solidFill>
              </a:rPr>
              <a:t>abnormal vibration</a:t>
            </a:r>
            <a:endParaRPr lang="en-US" sz="960" dirty="0"/>
          </a:p>
        </p:txBody>
      </p:sp>
      <p:sp>
        <p:nvSpPr>
          <p:cNvPr id="21" name="Shape 19"/>
          <p:cNvSpPr/>
          <p:nvPr/>
        </p:nvSpPr>
        <p:spPr>
          <a:xfrm>
            <a:off x="3063240" y="4343400"/>
            <a:ext cx="1783080" cy="329184"/>
          </a:xfrm>
          <a:prstGeom prst="roundRect">
            <a:avLst>
              <a:gd name="adj" fmla="val 22222"/>
            </a:avLst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36392" y="4425696"/>
            <a:ext cx="1636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FFFFFF"/>
                </a:solidFill>
              </a:rPr>
              <a:t>rising temperature</a:t>
            </a:r>
            <a:endParaRPr lang="en-US" sz="960" dirty="0"/>
          </a:p>
        </p:txBody>
      </p:sp>
      <p:sp>
        <p:nvSpPr>
          <p:cNvPr id="23" name="Shape 21"/>
          <p:cNvSpPr/>
          <p:nvPr/>
        </p:nvSpPr>
        <p:spPr>
          <a:xfrm>
            <a:off x="5257800" y="4343400"/>
            <a:ext cx="1783080" cy="329184"/>
          </a:xfrm>
          <a:prstGeom prst="roundRect">
            <a:avLst>
              <a:gd name="adj" fmla="val 22222"/>
            </a:avLst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30952" y="4425696"/>
            <a:ext cx="1636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FFFFFF"/>
                </a:solidFill>
              </a:rPr>
              <a:t>pressure changes</a:t>
            </a:r>
            <a:endParaRPr lang="en-US" sz="960" dirty="0"/>
          </a:p>
        </p:txBody>
      </p:sp>
      <p:sp>
        <p:nvSpPr>
          <p:cNvPr id="25" name="Shape 23"/>
          <p:cNvSpPr/>
          <p:nvPr/>
        </p:nvSpPr>
        <p:spPr>
          <a:xfrm>
            <a:off x="7452360" y="4343400"/>
            <a:ext cx="1783080" cy="329184"/>
          </a:xfrm>
          <a:prstGeom prst="roundRect">
            <a:avLst>
              <a:gd name="adj" fmla="val 22222"/>
            </a:avLst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25512" y="4425696"/>
            <a:ext cx="1636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FFFFFF"/>
                </a:solidFill>
              </a:rPr>
              <a:t>power spikes</a:t>
            </a:r>
            <a:endParaRPr lang="en-US" sz="960" dirty="0"/>
          </a:p>
        </p:txBody>
      </p:sp>
      <p:sp>
        <p:nvSpPr>
          <p:cNvPr id="27" name="Shape 25"/>
          <p:cNvSpPr/>
          <p:nvPr/>
        </p:nvSpPr>
        <p:spPr>
          <a:xfrm>
            <a:off x="9646920" y="4343400"/>
            <a:ext cx="1783080" cy="329184"/>
          </a:xfrm>
          <a:prstGeom prst="roundRect">
            <a:avLst>
              <a:gd name="adj" fmla="val 22222"/>
            </a:avLst>
          </a:prstGeom>
          <a:solidFill>
            <a:srgbClr val="20A39E"/>
          </a:solidFill>
          <a:ln w="12700">
            <a:solidFill>
              <a:srgbClr val="20A39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720072" y="4425696"/>
            <a:ext cx="1636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FFFFFF"/>
                </a:solidFill>
              </a:rPr>
              <a:t>unusual sound</a:t>
            </a:r>
            <a:endParaRPr lang="en-US" sz="960" dirty="0"/>
          </a:p>
        </p:txBody>
      </p:sp>
      <p:sp>
        <p:nvSpPr>
          <p:cNvPr id="30" name="Text 27"/>
          <p:cNvSpPr/>
          <p:nvPr/>
        </p:nvSpPr>
        <p:spPr>
          <a:xfrm>
            <a:off x="11750040" y="6446520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0A39E"/>
          </a:solidFill>
          <a:ln w="12700">
            <a:solidFill>
              <a:srgbClr val="20A39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5720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the system would work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914400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4B5563"/>
                </a:solidFill>
              </a:rPr>
              <a:t>Simple data flow for the conceptual design.</a:t>
            </a:r>
            <a:endParaRPr lang="en-US" sz="1220" dirty="0"/>
          </a:p>
        </p:txBody>
      </p:sp>
      <p:sp>
        <p:nvSpPr>
          <p:cNvPr id="5" name="Text 3"/>
          <p:cNvSpPr/>
          <p:nvPr/>
        </p:nvSpPr>
        <p:spPr>
          <a:xfrm>
            <a:off x="9829800" y="6446520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ITAI 3377 | Group 9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18745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7780">
            <a:solidFill>
              <a:srgbClr val="20A39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35000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2A43"/>
                </a:solidFill>
              </a:rPr>
              <a:t>Sensors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834640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4B5563"/>
                </a:solidFill>
              </a:rPr>
              <a:t>machine readings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569464" y="2542032"/>
            <a:ext cx="301752" cy="310896"/>
          </a:xfrm>
          <a:prstGeom prst="rightArrow">
            <a:avLst/>
          </a:prstGeom>
          <a:solidFill>
            <a:srgbClr val="20A39E"/>
          </a:solidFill>
          <a:ln w="12700">
            <a:solidFill>
              <a:srgbClr val="20A39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26080" y="2148840"/>
            <a:ext cx="18745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7780">
            <a:solidFill>
              <a:srgbClr val="2F80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17520" y="235000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2A43"/>
                </a:solidFill>
              </a:rPr>
              <a:t>Edge gateway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017520" y="2834640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4B5563"/>
                </a:solidFill>
              </a:rPr>
              <a:t>local processing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55464" y="2542032"/>
            <a:ext cx="301752" cy="310896"/>
          </a:xfrm>
          <a:prstGeom prst="rightArrow">
            <a:avLst/>
          </a:prstGeom>
          <a:solidFill>
            <a:srgbClr val="20A39E"/>
          </a:solidFill>
          <a:ln w="12700">
            <a:solidFill>
              <a:srgbClr val="20A39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212080" y="2148840"/>
            <a:ext cx="18745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7780">
            <a:solidFill>
              <a:srgbClr val="20A39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0" y="235000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2A43"/>
                </a:solidFill>
              </a:rPr>
              <a:t>AI model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303520" y="2834640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4B5563"/>
                </a:solidFill>
              </a:rPr>
              <a:t>spots anomalies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141464" y="2542032"/>
            <a:ext cx="301752" cy="310896"/>
          </a:xfrm>
          <a:prstGeom prst="rightArrow">
            <a:avLst/>
          </a:prstGeom>
          <a:solidFill>
            <a:srgbClr val="20A39E"/>
          </a:solidFill>
          <a:ln w="12700">
            <a:solidFill>
              <a:srgbClr val="20A39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98080" y="2148840"/>
            <a:ext cx="18745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7780">
            <a:solidFill>
              <a:srgbClr val="2F80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89520" y="235000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2A43"/>
                </a:solidFill>
              </a:rPr>
              <a:t>Agent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589520" y="2834640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4B5563"/>
                </a:solidFill>
              </a:rPr>
              <a:t>chooses risk level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427464" y="2542032"/>
            <a:ext cx="301752" cy="310896"/>
          </a:xfrm>
          <a:prstGeom prst="rightArrow">
            <a:avLst/>
          </a:prstGeom>
          <a:solidFill>
            <a:srgbClr val="20A39E"/>
          </a:solidFill>
          <a:ln w="12700">
            <a:solidFill>
              <a:srgbClr val="20A39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784080" y="2148840"/>
            <a:ext cx="18745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7780">
            <a:solidFill>
              <a:srgbClr val="20A39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875520" y="235000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2A43"/>
                </a:solidFill>
              </a:rPr>
              <a:t>Response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875520" y="2834640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4B5563"/>
                </a:solidFill>
              </a:rPr>
              <a:t>maintenance action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22960" y="4343400"/>
            <a:ext cx="48920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2960" y="4343400"/>
            <a:ext cx="73152" cy="1051560"/>
          </a:xfrm>
          <a:prstGeom prst="rect">
            <a:avLst/>
          </a:prstGeom>
          <a:solidFill>
            <a:srgbClr val="20A39E"/>
          </a:solidFill>
          <a:ln w="12700">
            <a:solidFill>
              <a:srgbClr val="20A39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24128" y="4489704"/>
            <a:ext cx="45811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A43"/>
                </a:solidFill>
              </a:rPr>
              <a:t>Why edge computing?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024128" y="4818888"/>
            <a:ext cx="458114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4B5563"/>
                </a:solidFill>
              </a:rPr>
              <a:t>It keeps decisions closer to the equipment, which helps with speed, bandwidth, and reliability.</a:t>
            </a:r>
            <a:endParaRPr lang="en-US" sz="1160" dirty="0"/>
          </a:p>
        </p:txBody>
      </p:sp>
      <p:sp>
        <p:nvSpPr>
          <p:cNvPr id="29" name="Shape 27"/>
          <p:cNvSpPr/>
          <p:nvPr/>
        </p:nvSpPr>
        <p:spPr>
          <a:xfrm>
            <a:off x="6492240" y="4343400"/>
            <a:ext cx="48920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92240" y="4343400"/>
            <a:ext cx="73152" cy="105156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93408" y="4489704"/>
            <a:ext cx="45811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A43"/>
                </a:solidFill>
              </a:rPr>
              <a:t>Tools we would consider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693408" y="4818888"/>
            <a:ext cx="458114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4B5563"/>
                </a:solidFill>
              </a:rPr>
              <a:t>Edge Impulse, TensorFlow Lite, Node-RED, Raspberry Pi, or NVIDIA Jetson.</a:t>
            </a:r>
            <a:endParaRPr lang="en-US" sz="1160" dirty="0"/>
          </a:p>
        </p:txBody>
      </p:sp>
      <p:sp>
        <p:nvSpPr>
          <p:cNvPr id="34" name="Text 31"/>
          <p:cNvSpPr/>
          <p:nvPr/>
        </p:nvSpPr>
        <p:spPr>
          <a:xfrm>
            <a:off x="11750040" y="6446520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0A39E"/>
          </a:solidFill>
          <a:ln w="12700">
            <a:solidFill>
              <a:srgbClr val="20A39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5720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Where Generative AI fits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914400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4B5563"/>
                </a:solidFill>
              </a:rPr>
              <a:t>Generative AI is used to support the maintenance agent, not to run the factory by itself.</a:t>
            </a:r>
            <a:endParaRPr lang="en-US" sz="1220" dirty="0"/>
          </a:p>
        </p:txBody>
      </p:sp>
      <p:sp>
        <p:nvSpPr>
          <p:cNvPr id="5" name="Text 3"/>
          <p:cNvSpPr/>
          <p:nvPr/>
        </p:nvSpPr>
        <p:spPr>
          <a:xfrm>
            <a:off x="9829800" y="6446520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ITAI 3377 | Group 9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777240" y="1417320"/>
            <a:ext cx="34290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417320"/>
            <a:ext cx="73152" cy="182880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563624"/>
            <a:ext cx="31181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A43"/>
                </a:solidFill>
              </a:rPr>
              <a:t>Synthetic failure examples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78408" y="1892808"/>
            <a:ext cx="311810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4B5563"/>
                </a:solidFill>
              </a:rPr>
              <a:t>It can create sample failure patterns when real failure data is limited.</a:t>
            </a:r>
            <a:endParaRPr lang="en-US" sz="1160" dirty="0"/>
          </a:p>
        </p:txBody>
      </p:sp>
      <p:sp>
        <p:nvSpPr>
          <p:cNvPr id="10" name="Shape 8"/>
          <p:cNvSpPr/>
          <p:nvPr/>
        </p:nvSpPr>
        <p:spPr>
          <a:xfrm>
            <a:off x="4389120" y="1417320"/>
            <a:ext cx="34290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9120" y="1417320"/>
            <a:ext cx="73152" cy="1828800"/>
          </a:xfrm>
          <a:prstGeom prst="rect">
            <a:avLst/>
          </a:prstGeom>
          <a:solidFill>
            <a:srgbClr val="20A39E"/>
          </a:solidFill>
          <a:ln w="12700">
            <a:solidFill>
              <a:srgbClr val="20A39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90288" y="1563624"/>
            <a:ext cx="31181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A43"/>
                </a:solidFill>
              </a:rPr>
              <a:t>Plain-language explanations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90288" y="1892808"/>
            <a:ext cx="311810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4B5563"/>
                </a:solidFill>
              </a:rPr>
              <a:t>It can turn AI model results into explanations technicians can actually use.</a:t>
            </a:r>
            <a:endParaRPr lang="en-US" sz="1160" dirty="0"/>
          </a:p>
        </p:txBody>
      </p:sp>
      <p:sp>
        <p:nvSpPr>
          <p:cNvPr id="14" name="Shape 12"/>
          <p:cNvSpPr/>
          <p:nvPr/>
        </p:nvSpPr>
        <p:spPr>
          <a:xfrm>
            <a:off x="8001000" y="1417320"/>
            <a:ext cx="34290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01000" y="1417320"/>
            <a:ext cx="73152" cy="1828800"/>
          </a:xfrm>
          <a:prstGeom prst="rect">
            <a:avLst/>
          </a:prstGeom>
          <a:solidFill>
            <a:srgbClr val="2F9E44"/>
          </a:solidFill>
          <a:ln w="12700">
            <a:solidFill>
              <a:srgbClr val="2F9E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02168" y="1563624"/>
            <a:ext cx="31181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A43"/>
                </a:solidFill>
              </a:rPr>
              <a:t>Maintenance guidance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02168" y="1892808"/>
            <a:ext cx="311810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4B5563"/>
                </a:solidFill>
              </a:rPr>
              <a:t>It can suggest the next step, such as monitor, inspect, or schedule repair.</a:t>
            </a:r>
            <a:endParaRPr lang="en-US" sz="1160" dirty="0"/>
          </a:p>
        </p:txBody>
      </p:sp>
      <p:sp>
        <p:nvSpPr>
          <p:cNvPr id="18" name="Shape 16"/>
          <p:cNvSpPr/>
          <p:nvPr/>
        </p:nvSpPr>
        <p:spPr>
          <a:xfrm>
            <a:off x="1005840" y="4251960"/>
            <a:ext cx="10149840" cy="960120"/>
          </a:xfrm>
          <a:prstGeom prst="roundRect">
            <a:avLst>
              <a:gd name="adj" fmla="val 7619"/>
            </a:avLst>
          </a:prstGeom>
          <a:solidFill>
            <a:srgbClr val="FFF7ED"/>
          </a:solidFill>
          <a:ln w="15240">
            <a:solidFill>
              <a:srgbClr val="FDBA7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34440" y="4617720"/>
            <a:ext cx="9646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102A43"/>
                </a:solidFill>
              </a:rPr>
              <a:t>Example output: “Possible bearing issue detected. Vibration and temperature are both rising. Inspection recommended within 24 hours.”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11750040" y="6446520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0A39E"/>
          </a:solidFill>
          <a:ln w="12700">
            <a:solidFill>
              <a:srgbClr val="20A39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5720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Decision logic + safety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914400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4B5563"/>
                </a:solidFill>
              </a:rPr>
              <a:t>The agent gives recommendations based on risk level.</a:t>
            </a:r>
            <a:endParaRPr lang="en-US" sz="1220" dirty="0"/>
          </a:p>
        </p:txBody>
      </p:sp>
      <p:sp>
        <p:nvSpPr>
          <p:cNvPr id="5" name="Text 3"/>
          <p:cNvSpPr/>
          <p:nvPr/>
        </p:nvSpPr>
        <p:spPr>
          <a:xfrm>
            <a:off x="9829800" y="6446520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ITAI 3377 | Group 9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" y="1325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2A43"/>
                </a:solidFill>
              </a:rPr>
              <a:t>Risk levels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868680" y="1874520"/>
            <a:ext cx="4617720" cy="475488"/>
          </a:xfrm>
          <a:prstGeom prst="roundRect">
            <a:avLst>
              <a:gd name="adj" fmla="val 13462"/>
            </a:avLst>
          </a:prstGeom>
          <a:solidFill>
            <a:srgbClr val="2F9E44"/>
          </a:solidFill>
          <a:ln w="12700">
            <a:solidFill>
              <a:srgbClr val="2F9E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4128" y="1984248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Low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423160" y="1984248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keep watching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68680" y="2532888"/>
            <a:ext cx="4617720" cy="475488"/>
          </a:xfrm>
          <a:prstGeom prst="roundRect">
            <a:avLst>
              <a:gd name="adj" fmla="val 13462"/>
            </a:avLst>
          </a:prstGeom>
          <a:solidFill>
            <a:srgbClr val="20A39E"/>
          </a:solidFill>
          <a:ln w="12700">
            <a:solidFill>
              <a:srgbClr val="20A39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2642616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Medium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423160" y="2642616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send alert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68680" y="3191256"/>
            <a:ext cx="4617720" cy="475488"/>
          </a:xfrm>
          <a:prstGeom prst="roundRect">
            <a:avLst>
              <a:gd name="adj" fmla="val 13462"/>
            </a:avLst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24128" y="3300984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High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423160" y="3300984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recommend inspection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68680" y="3849624"/>
            <a:ext cx="4617720" cy="475488"/>
          </a:xfrm>
          <a:prstGeom prst="roundRect">
            <a:avLst>
              <a:gd name="adj" fmla="val 13462"/>
            </a:avLst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24128" y="3959352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Critical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2423160" y="3959352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recommend shutdown review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0" y="1417320"/>
            <a:ext cx="46634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0" y="1417320"/>
            <a:ext cx="73152" cy="123444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01968" y="1563624"/>
            <a:ext cx="43525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A43"/>
                </a:solidFill>
              </a:rPr>
              <a:t>Human oversight stays in place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601968" y="1892808"/>
            <a:ext cx="435254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4B5563"/>
                </a:solidFill>
              </a:rPr>
              <a:t>The agent can recommend actions, but high-impact decisions should still involve people.</a:t>
            </a:r>
            <a:endParaRPr lang="en-US" sz="1160" dirty="0"/>
          </a:p>
        </p:txBody>
      </p:sp>
      <p:sp>
        <p:nvSpPr>
          <p:cNvPr id="23" name="Shape 21"/>
          <p:cNvSpPr/>
          <p:nvPr/>
        </p:nvSpPr>
        <p:spPr>
          <a:xfrm>
            <a:off x="6400800" y="3063240"/>
            <a:ext cx="46634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0" y="3063240"/>
            <a:ext cx="73152" cy="123444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01968" y="3209544"/>
            <a:ext cx="43525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A43"/>
                </a:solidFill>
              </a:rPr>
              <a:t>Why this matters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601968" y="3538728"/>
            <a:ext cx="435254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4B5563"/>
                </a:solidFill>
              </a:rPr>
              <a:t>It gives the factory faster warning signs without giving the AI unlimited control.</a:t>
            </a:r>
            <a:endParaRPr lang="en-US" sz="1160" dirty="0"/>
          </a:p>
        </p:txBody>
      </p:sp>
      <p:sp>
        <p:nvSpPr>
          <p:cNvPr id="27" name="Shape 25"/>
          <p:cNvSpPr/>
          <p:nvPr/>
        </p:nvSpPr>
        <p:spPr>
          <a:xfrm>
            <a:off x="1005840" y="5257800"/>
            <a:ext cx="10195560" cy="502920"/>
          </a:xfrm>
          <a:prstGeom prst="roundRect">
            <a:avLst>
              <a:gd name="adj" fmla="val 10909"/>
            </a:avLst>
          </a:prstGeom>
          <a:solidFill>
            <a:srgbClr val="E8F7F6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43000" y="5431536"/>
            <a:ext cx="9966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A43"/>
                </a:solidFill>
              </a:rPr>
              <a:t>Bottom line: faster response, but still controlled and reviewable.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11750040" y="6446520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0A39E"/>
          </a:solidFill>
          <a:ln w="12700">
            <a:solidFill>
              <a:srgbClr val="20A39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5720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Security, ethics, and testing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914400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4B5563"/>
                </a:solidFill>
              </a:rPr>
              <a:t>The design also has to be safe, secure, and testable.</a:t>
            </a:r>
            <a:endParaRPr lang="en-US" sz="1220" dirty="0"/>
          </a:p>
        </p:txBody>
      </p:sp>
      <p:sp>
        <p:nvSpPr>
          <p:cNvPr id="5" name="Text 3"/>
          <p:cNvSpPr/>
          <p:nvPr/>
        </p:nvSpPr>
        <p:spPr>
          <a:xfrm>
            <a:off x="9829800" y="6446520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ITAI 3377 | Group 9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777240" y="1325880"/>
            <a:ext cx="33375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325880"/>
            <a:ext cx="73152" cy="182880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472184"/>
            <a:ext cx="30266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A43"/>
                </a:solidFill>
              </a:rPr>
              <a:t>Security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78408" y="1801368"/>
            <a:ext cx="302666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4B5563"/>
                </a:solidFill>
              </a:rPr>
              <a:t>Use encryption, device authentication, role-based access, zero trust checks, and monitoring for strange sensor or network behavior.</a:t>
            </a:r>
            <a:endParaRPr lang="en-US" sz="1160" dirty="0"/>
          </a:p>
        </p:txBody>
      </p:sp>
      <p:sp>
        <p:nvSpPr>
          <p:cNvPr id="10" name="Shape 8"/>
          <p:cNvSpPr/>
          <p:nvPr/>
        </p:nvSpPr>
        <p:spPr>
          <a:xfrm>
            <a:off x="4434840" y="1325880"/>
            <a:ext cx="33375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1325880"/>
            <a:ext cx="73152" cy="182880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36008" y="1472184"/>
            <a:ext cx="30266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A43"/>
                </a:solidFill>
              </a:rPr>
              <a:t>Ethics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36008" y="1801368"/>
            <a:ext cx="302666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4B5563"/>
                </a:solidFill>
              </a:rPr>
              <a:t>Avoid overreliance on AI. Watch for false alarms, missed failures, model bias, and keep human override available.</a:t>
            </a:r>
            <a:endParaRPr lang="en-US" sz="1160" dirty="0"/>
          </a:p>
        </p:txBody>
      </p:sp>
      <p:sp>
        <p:nvSpPr>
          <p:cNvPr id="14" name="Shape 12"/>
          <p:cNvSpPr/>
          <p:nvPr/>
        </p:nvSpPr>
        <p:spPr>
          <a:xfrm>
            <a:off x="8092440" y="1325880"/>
            <a:ext cx="33375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92440" y="1325880"/>
            <a:ext cx="73152" cy="1828800"/>
          </a:xfrm>
          <a:prstGeom prst="rect">
            <a:avLst/>
          </a:prstGeom>
          <a:solidFill>
            <a:srgbClr val="2F9E44"/>
          </a:solidFill>
          <a:ln w="12700">
            <a:solidFill>
              <a:srgbClr val="2F9E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93608" y="1472184"/>
            <a:ext cx="30266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A43"/>
                </a:solidFill>
              </a:rPr>
              <a:t>Testing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93608" y="1801368"/>
            <a:ext cx="302666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4B5563"/>
                </a:solidFill>
              </a:rPr>
              <a:t>Test accuracy, response time, sensor failures, spoofed data, unauthorized access, and safety of recommendations.</a:t>
            </a:r>
            <a:endParaRPr lang="en-US" sz="1160" dirty="0"/>
          </a:p>
        </p:txBody>
      </p:sp>
      <p:sp>
        <p:nvSpPr>
          <p:cNvPr id="18" name="Text 16"/>
          <p:cNvSpPr/>
          <p:nvPr/>
        </p:nvSpPr>
        <p:spPr>
          <a:xfrm>
            <a:off x="868680" y="3886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2A43"/>
                </a:solidFill>
              </a:rPr>
              <a:t>Theoretical implementation plan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14400" y="4343400"/>
            <a:ext cx="10332720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580" dirty="0">
                <a:solidFill>
                  <a:srgbClr val="1F2937"/>
                </a:solidFill>
              </a:rPr>
              <a:t>Start with one machine type, like motors</a:t>
            </a:r>
            <a:endParaRPr lang="en-US" sz="1580" dirty="0"/>
          </a:p>
          <a:p>
            <a:r>
              <a:rPr lang="en-US" sz="1580" dirty="0">
                <a:solidFill>
                  <a:srgbClr val="1F2937"/>
                </a:solidFill>
              </a:rPr>
              <a:t>Collect normal baseline data</a:t>
            </a:r>
            <a:endParaRPr lang="en-US" sz="1580" dirty="0"/>
          </a:p>
          <a:p>
            <a:r>
              <a:rPr lang="en-US" sz="1580" dirty="0">
                <a:solidFill>
                  <a:srgbClr val="1F2937"/>
                </a:solidFill>
              </a:rPr>
              <a:t>Train and test predictive models</a:t>
            </a:r>
            <a:endParaRPr lang="en-US" sz="1580" dirty="0"/>
          </a:p>
          <a:p>
            <a:r>
              <a:rPr lang="en-US" sz="1580" dirty="0">
                <a:solidFill>
                  <a:srgbClr val="1F2937"/>
                </a:solidFill>
              </a:rPr>
              <a:t>Deploy conceptually at the edge</a:t>
            </a:r>
            <a:endParaRPr lang="en-US" sz="1580" dirty="0"/>
          </a:p>
          <a:p>
            <a:r>
              <a:rPr lang="en-US" sz="1580" dirty="0">
                <a:solidFill>
                  <a:srgbClr val="1F2937"/>
                </a:solidFill>
              </a:rPr>
              <a:t>Add the autonomous agent for risk-based recommendations</a:t>
            </a:r>
            <a:endParaRPr lang="en-US" sz="1580" dirty="0"/>
          </a:p>
        </p:txBody>
      </p:sp>
      <p:sp>
        <p:nvSpPr>
          <p:cNvPr id="21" name="Text 18"/>
          <p:cNvSpPr/>
          <p:nvPr/>
        </p:nvSpPr>
        <p:spPr>
          <a:xfrm>
            <a:off x="11750040" y="6446520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0A39E"/>
          </a:solidFill>
          <a:ln w="12700">
            <a:solidFill>
              <a:srgbClr val="20A39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5720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914400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4B5563"/>
                </a:solidFill>
              </a:rPr>
              <a:t>What our conceptual design shows.</a:t>
            </a:r>
            <a:endParaRPr lang="en-US" sz="1220" dirty="0"/>
          </a:p>
        </p:txBody>
      </p:sp>
      <p:sp>
        <p:nvSpPr>
          <p:cNvPr id="5" name="Text 3"/>
          <p:cNvSpPr/>
          <p:nvPr/>
        </p:nvSpPr>
        <p:spPr>
          <a:xfrm>
            <a:off x="9829800" y="6446520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ITAI 3377 | Group 9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" y="1325880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02A43"/>
                </a:solidFill>
              </a:rPr>
              <a:t>Our project shows how AI, edge computing, and IIoT could help a smart factory catch equipment problems earlier.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77240" y="2514600"/>
            <a:ext cx="32461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514600"/>
            <a:ext cx="73152" cy="1143000"/>
          </a:xfrm>
          <a:prstGeom prst="rect">
            <a:avLst/>
          </a:prstGeom>
          <a:solidFill>
            <a:srgbClr val="2F9E44"/>
          </a:solidFill>
          <a:ln w="12700">
            <a:solidFill>
              <a:srgbClr val="2F9E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8408" y="2660904"/>
            <a:ext cx="29352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A43"/>
                </a:solidFill>
              </a:rPr>
              <a:t>Main benefit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78408" y="2990088"/>
            <a:ext cx="293522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4B5563"/>
                </a:solidFill>
              </a:rPr>
              <a:t>Less unexpected downtime and better maintenance planning.</a:t>
            </a:r>
            <a:endParaRPr lang="en-US" sz="1160" dirty="0"/>
          </a:p>
        </p:txBody>
      </p:sp>
      <p:sp>
        <p:nvSpPr>
          <p:cNvPr id="11" name="Shape 9"/>
          <p:cNvSpPr/>
          <p:nvPr/>
        </p:nvSpPr>
        <p:spPr>
          <a:xfrm>
            <a:off x="4343400" y="2514600"/>
            <a:ext cx="32461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43400" y="2514600"/>
            <a:ext cx="73152" cy="1143000"/>
          </a:xfrm>
          <a:prstGeom prst="rect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44568" y="2660904"/>
            <a:ext cx="29352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A43"/>
                </a:solidFill>
              </a:rPr>
              <a:t>Important limit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44568" y="2990088"/>
            <a:ext cx="293522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4B5563"/>
                </a:solidFill>
              </a:rPr>
              <a:t>This is conceptual, so no coding or working demo is included.</a:t>
            </a:r>
            <a:endParaRPr lang="en-US" sz="1160" dirty="0"/>
          </a:p>
        </p:txBody>
      </p:sp>
      <p:sp>
        <p:nvSpPr>
          <p:cNvPr id="15" name="Shape 13"/>
          <p:cNvSpPr/>
          <p:nvPr/>
        </p:nvSpPr>
        <p:spPr>
          <a:xfrm>
            <a:off x="7909560" y="2514600"/>
            <a:ext cx="32461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09560" y="2514600"/>
            <a:ext cx="73152" cy="1143000"/>
          </a:xfrm>
          <a:prstGeom prst="rect">
            <a:avLst/>
          </a:prstGeom>
          <a:solidFill>
            <a:srgbClr val="20A39E"/>
          </a:solidFill>
          <a:ln w="12700">
            <a:solidFill>
              <a:srgbClr val="20A39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10728" y="2660904"/>
            <a:ext cx="29352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A43"/>
                </a:solidFill>
              </a:rPr>
              <a:t>Why it fits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110728" y="2990088"/>
            <a:ext cx="293522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4B5563"/>
                </a:solidFill>
              </a:rPr>
              <a:t>It matches the smart factory autonomous maintenance use case from the assignment.</a:t>
            </a:r>
            <a:endParaRPr lang="en-US" sz="1160" dirty="0"/>
          </a:p>
        </p:txBody>
      </p:sp>
      <p:sp>
        <p:nvSpPr>
          <p:cNvPr id="20" name="Text 17"/>
          <p:cNvSpPr/>
          <p:nvPr/>
        </p:nvSpPr>
        <p:spPr>
          <a:xfrm>
            <a:off x="11750040" y="6446520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0A39E"/>
          </a:solidFill>
          <a:ln w="12700">
            <a:solidFill>
              <a:srgbClr val="20A39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5720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References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914400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4B5563"/>
                </a:solidFill>
              </a:rPr>
              <a:t>Sources used for the project background and technical concepts.</a:t>
            </a:r>
            <a:endParaRPr lang="en-US" sz="1220" dirty="0"/>
          </a:p>
        </p:txBody>
      </p:sp>
      <p:sp>
        <p:nvSpPr>
          <p:cNvPr id="5" name="Text 3"/>
          <p:cNvSpPr/>
          <p:nvPr/>
        </p:nvSpPr>
        <p:spPr>
          <a:xfrm>
            <a:off x="9829800" y="6446520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ITAI 3377 | Group 9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731520" y="1234440"/>
            <a:ext cx="10744200" cy="896112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417320"/>
            <a:ext cx="103784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10" dirty="0">
                <a:solidFill>
                  <a:srgbClr val="1F2937"/>
                </a:solidFill>
              </a:rPr>
              <a:t>Lee, J., Davari, H., Singh, J., &amp; Pandhare, V. (2018). Industrial artificial intelligence for Industry 4.0-based manufacturing systems. Manufacturing Letters, 18, 20–23. https://doi.org/10.1016/j.mfglet.2018.09.002</a:t>
            </a:r>
            <a:endParaRPr lang="en-US" sz="1110" dirty="0"/>
          </a:p>
        </p:txBody>
      </p:sp>
      <p:sp>
        <p:nvSpPr>
          <p:cNvPr id="8" name="Shape 6"/>
          <p:cNvSpPr/>
          <p:nvPr/>
        </p:nvSpPr>
        <p:spPr>
          <a:xfrm>
            <a:off x="731520" y="2404872"/>
            <a:ext cx="10744200" cy="896112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587752"/>
            <a:ext cx="103784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10" dirty="0">
                <a:solidFill>
                  <a:srgbClr val="1F2937"/>
                </a:solidFill>
              </a:rPr>
              <a:t>Liang, S., Jin, S., &amp; Chen, Y. (2024). A review of edge computing technology and its applications in power systems. Energies, 17(13), 3230. https://doi.org/10.3390/en17133230</a:t>
            </a:r>
            <a:endParaRPr lang="en-US" sz="1110" dirty="0"/>
          </a:p>
        </p:txBody>
      </p:sp>
      <p:sp>
        <p:nvSpPr>
          <p:cNvPr id="10" name="Shape 8"/>
          <p:cNvSpPr/>
          <p:nvPr/>
        </p:nvSpPr>
        <p:spPr>
          <a:xfrm>
            <a:off x="731520" y="3575304"/>
            <a:ext cx="10744200" cy="896112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758184"/>
            <a:ext cx="103784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10" dirty="0">
                <a:solidFill>
                  <a:srgbClr val="1F2937"/>
                </a:solidFill>
              </a:rPr>
              <a:t>Lu, Y. (2017). Industry 4.0: A survey on technologies, applications and open research issues. Journal of Industrial Information Integration, 6, 1–10. https://doi.org/10.1016/j.jii.2017.04.005</a:t>
            </a:r>
            <a:endParaRPr lang="en-US" sz="1110" dirty="0"/>
          </a:p>
        </p:txBody>
      </p:sp>
      <p:sp>
        <p:nvSpPr>
          <p:cNvPr id="12" name="Shape 10"/>
          <p:cNvSpPr/>
          <p:nvPr/>
        </p:nvSpPr>
        <p:spPr>
          <a:xfrm>
            <a:off x="731520" y="4745736"/>
            <a:ext cx="10744200" cy="896112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928616"/>
            <a:ext cx="103784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10" dirty="0">
                <a:solidFill>
                  <a:srgbClr val="1F2937"/>
                </a:solidFill>
              </a:rPr>
              <a:t>Shi, W., Cao, J., Zhang, Q., Li, Y., &amp; Xu, L. (2016). Edge computing: Vision and challenges. IEEE Internet of Things Journal, 3(5), 637–646. https://doi.org/10.1109/JIOT.2016.2579198</a:t>
            </a:r>
            <a:endParaRPr lang="en-US" sz="1110" dirty="0"/>
          </a:p>
        </p:txBody>
      </p:sp>
      <p:sp>
        <p:nvSpPr>
          <p:cNvPr id="15" name="Text 12"/>
          <p:cNvSpPr/>
          <p:nvPr/>
        </p:nvSpPr>
        <p:spPr>
          <a:xfrm>
            <a:off x="11750040" y="6446520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1125</Words>
  <Application>Microsoft Office PowerPoint</Application>
  <PresentationFormat>Widescreen</PresentationFormat>
  <Paragraphs>137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ITAI 3377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Autonomous Maintenance Agent for Smart Factory Using Generative AI and Edge IIoT Systems</dc:title>
  <dc:subject>Conceptual Path Capstone Presentation</dc:subject>
  <dc:creator>Group 9</dc:creator>
  <cp:lastModifiedBy>Oscar Cortez</cp:lastModifiedBy>
  <cp:revision>1</cp:revision>
  <dcterms:created xsi:type="dcterms:W3CDTF">2026-04-26T20:31:16Z</dcterms:created>
  <dcterms:modified xsi:type="dcterms:W3CDTF">2026-04-26T20:32:53Z</dcterms:modified>
</cp:coreProperties>
</file>